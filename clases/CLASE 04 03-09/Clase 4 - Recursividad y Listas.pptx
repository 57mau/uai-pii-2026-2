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2" r:id="rId19"/>
    <p:sldId id="283" r:id="rId20"/>
    <p:sldId id="284" r:id="rId21"/>
    <p:sldId id="285" r:id="rId22"/>
    <p:sldId id="286" r:id="rId23"/>
    <p:sldId id="273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74" r:id="rId33"/>
    <p:sldId id="295" r:id="rId34"/>
    <p:sldId id="296" r:id="rId35"/>
    <p:sldId id="297" r:id="rId36"/>
    <p:sldId id="275" r:id="rId37"/>
    <p:sldId id="276" r:id="rId38"/>
    <p:sldId id="277" r:id="rId39"/>
    <p:sldId id="278" r:id="rId40"/>
    <p:sldId id="279" r:id="rId41"/>
    <p:sldId id="280" r:id="rId42"/>
    <p:sldId id="281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96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120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95F5F-812C-4603-5894-C7CA77505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1C1B3-D5AC-AF1C-A16C-971428998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23E130-79BA-8988-62A7-E5C2DF684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617E5-435E-3617-5CAE-2EC19E73C1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097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1F0F4-16A1-18EC-7B9F-7A5E073E1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9915E-9E9F-9D5A-29B2-8416571C7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842E1-C66E-1ACE-9D96-0D32205CD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43D9A-F869-E6BC-0BBF-6F3B3C0AB3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216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59A79-BC90-28E5-558E-4744377BD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9A5B0-DBEF-F07C-DE38-8A6E7E481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8A4A5-04D6-7062-FFBB-EB3A408F5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8BE88-84A9-085B-A2A6-A77238F354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644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96959-C1AF-0CF4-C2AB-12128169A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B72F3-3264-2D26-534E-6D2E8141A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0E289-B23B-005C-26DC-B2BEBCFB8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D9DB7-240E-3864-28F3-F6409E0C9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244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B7064-3A15-B2BF-CCA0-6E06E5A39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C5B56-79B7-065A-A818-D16EA4125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037FD-4129-8098-33C8-775AA1F60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0DE68-6A6E-B9AB-9140-8334B94FA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250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557B6-C359-3B93-9E97-2438749D2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2B6ED-D12A-4C94-EFF8-A0BD22141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B84C9-E078-2D28-661A-3DE6337F1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6052-C7B1-B0CF-44C3-A1A2EFD8AF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353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73C61-B4F0-63D6-882F-3C8A36997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843BC-A3C9-B058-0077-44066C74B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D0DC0C-53F8-A569-F4E1-18394EAC0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D33A5-3C26-27CE-DEA5-B3C01F22CE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741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1BC9F-9CF5-FC81-4CE7-8AACB2F35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B0227-C7BA-3389-A432-EB1770B4A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78C78-2EFE-8CBF-B51A-2ABA1322A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76042-692F-B3C5-4377-C1E0C8FB28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297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157E5-1550-FFDC-ADB0-EBCA0E063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684D7-E1B4-AC75-FBB7-8A89A1378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88302-89D5-0683-38B1-97D4D7784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0E881-8098-E453-D7D2-475CB314FE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262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E0D0F-3C3C-DAA4-CE0D-5C22C0909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1C42A-6928-7C53-705E-0E3612119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7204D-EFA9-714B-E933-16C5BBA73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10667-549E-5606-5879-D8BC6122E3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8953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D3ABF-1612-6B9F-B3D2-69C988211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61C421-7E5B-33A7-5244-1F8CA642D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F66B5-B955-2F32-810B-43E20CCA8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42554-CE07-3AEC-9656-F6C3429051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52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7D8DB-ED56-FEE0-929C-7D9BFA867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8AC8E-DBBC-9EA0-3070-9E6F1CEC3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B4F2C-4645-F712-93C9-F09BA39BD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930AA-87C9-F1DE-29F4-444E656CA1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528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7A184-9F04-DF7D-BFBE-BAAF8D47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11EF5-E93D-36F1-034D-2A4CC5E3F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DFA38-CCEC-3D92-4613-E9FACEAAF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AD786-EFC3-3C3F-CF1D-9ED8435A20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259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DAF1B-426C-C323-0BE2-03F9B9D10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1394B0-8384-11A4-69FC-98999526E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0735F-1E19-1CB5-903A-11AB346AC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C2AC0-1826-27DF-3602-69E39786E4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7610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6D74A-16E1-65B7-1198-542134743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B753C-324A-C7A1-8406-B02CE7F3D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018729-B416-D8E4-2597-54D60450C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D051F-12D3-5E4B-6E00-7DB3127E78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91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0508E-C0ED-CADF-EB5A-9E229FB5C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15F5E-35A1-1E68-7F8C-178C79873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C506E-7514-5807-BCDD-8EB2B93E3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B859C-B9B6-CA6E-FE7A-F0486051BA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254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257800" y="118872"/>
            <a:ext cx="6784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Y ESTRUCTURAS DE DATOS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384048" y="54864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Coedo, Maximiliano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1033272"/>
            <a:ext cx="112745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4: Recursividad y Listas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0D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de septiembre de 2026  ·  Unidad 2: Estructuras dinámicas 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Repaso de la clase anterior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43000"/>
            <a:ext cx="69494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3 cerró la Unidad 1 (Introducción a la programación visual) con controles Windows Forms avanzados: Button, CheckBox, ComboBox, DateTimePicker y Timer.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Vimos otros controles de uso frecuente (TextBox, Label, LinkLabel, NumericUpDown, PictureBox, ListView, MonthCalendar) y los cuadros de diálogo (ColorDialog, FontDialog, OpenFileDialog, SaveFileDialog) e impresión.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Repasamos funciones y procedimientos, paso de parámetros por valor y por referencia, estructuras de decisión/repetición y structs.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Cerramos con el ejercicio integrador de gestión de inscripciones, combinando todos los controles vistos.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18120" y="1143000"/>
            <a:ext cx="3566160" cy="4937760"/>
          </a:xfrm>
          <a:prstGeom prst="roundRect">
            <a:avLst>
              <a:gd name="adj" fmla="val 1538"/>
            </a:avLst>
          </a:prstGeom>
          <a:solidFill>
            <a:srgbClr val="F7F1F3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804672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arrancamos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1828800"/>
            <a:ext cx="3063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Cerramos la Unidad 1 y abrimos la Unidad 2: Estructuras dinámicas I.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memoria estática (arrays) a memoria dinámica (TDA).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tema: Recursividad.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tema: Listas enlazadas.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de hoy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F3E9EC"/>
          </a:solidFill>
          <a:ln w="9525">
            <a:solidFill>
              <a:srgbClr val="662937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731520" y="114300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de aprendizaje (RA1): 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las estructuras dinámicas de datos para manipular variaciones en la cantidad de datos a almacenar durante la ejecución de un programa, aplicando la sintaxis del lenguaje C# / aplicando el concepto de TDA.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2659304" cy="3566160"/>
          </a:xfrm>
          <a:prstGeom prst="roundRect">
            <a:avLst>
              <a:gd name="adj" fmla="val 2063"/>
            </a:avLst>
          </a:prstGeom>
          <a:solidFill>
            <a:srgbClr val="F7F1F3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1558252" y="2560320"/>
            <a:ext cx="548640" cy="548640"/>
          </a:xfrm>
          <a:prstGeom prst="ellipse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1558252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4612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Recursividad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977640"/>
            <a:ext cx="2293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es, caso base y caso recursivo, ejemplos clásicos.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45104" y="2331720"/>
            <a:ext cx="2659304" cy="3566160"/>
          </a:xfrm>
          <a:prstGeom prst="roundRect">
            <a:avLst>
              <a:gd name="adj" fmla="val 2063"/>
            </a:avLst>
          </a:prstGeom>
          <a:solidFill>
            <a:srgbClr val="F7F1F3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4400436" y="2560320"/>
            <a:ext cx="548640" cy="548640"/>
          </a:xfrm>
          <a:prstGeom prst="ellipse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4400436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482264" y="324612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enlazadas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3527984" y="3977640"/>
            <a:ext cx="2293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Fundamentos, clasificación y por qué reemplazan a los arrays de tamaño fijo.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87288" y="2331720"/>
            <a:ext cx="2659304" cy="3566160"/>
          </a:xfrm>
          <a:prstGeom prst="roundRect">
            <a:avLst>
              <a:gd name="adj" fmla="val 2063"/>
            </a:avLst>
          </a:prstGeom>
          <a:solidFill>
            <a:srgbClr val="F7F1F3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7242620" y="2560320"/>
            <a:ext cx="548640" cy="548640"/>
          </a:xfrm>
          <a:prstGeom prst="ellipse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72426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24448" y="324612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 err="1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</a:t>
            </a:r>
            <a:r>
              <a:rPr lang="en-US" sz="145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b="1" dirty="0" err="1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doblemente</a:t>
            </a:r>
            <a:r>
              <a:rPr lang="en-US" sz="145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b="1" dirty="0" err="1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enlazadas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370168" y="3977640"/>
            <a:ext cx="2293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del nodo y operaciones: agregar, recorrer, buscar, eliminar.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29471" y="2331720"/>
            <a:ext cx="2659304" cy="3566160"/>
          </a:xfrm>
          <a:prstGeom prst="roundRect">
            <a:avLst>
              <a:gd name="adj" fmla="val 2063"/>
            </a:avLst>
          </a:prstGeom>
          <a:solidFill>
            <a:srgbClr val="F7F1F3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10084803" y="2560320"/>
            <a:ext cx="548640" cy="548640"/>
          </a:xfrm>
          <a:prstGeom prst="ellipse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 txBox="1"/>
          <p:nvPr/>
        </p:nvSpPr>
        <p:spPr>
          <a:xfrm>
            <a:off x="10084803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166631" y="3246120"/>
            <a:ext cx="2384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 err="1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</a:t>
            </a:r>
            <a:r>
              <a:rPr lang="en-US" sz="145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circulares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9212351" y="3977640"/>
            <a:ext cx="2293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Variantes de la lista enlazada y cuándo conviene usar cada una.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memoria estática a la memoria dinámica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43000"/>
            <a:ext cx="60350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ahora usamos arrays: bloques de memoria de tamaño FIJO, definido al declararlos.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necesitamos más lugar del previsto, hay que redimensionar (costoso) o directamente no entra.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estructuras dinámicas (listas, pilas, colas, árboles) reservan memoria a medida que se necesita, un nodo a la vez.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es la idea de Tipo de Dato Abstracto (TDA): definimos QUÉ operaciones tiene la estructura (agregar, quitar, recorrer...), sin atarnos a un tamaño fijo de memoria.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188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(memoria estática)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0020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6903720" y="1600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160020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7863840" y="1600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23960" y="160020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8823960" y="1600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784080" y="1600200"/>
            <a:ext cx="822960" cy="502920"/>
          </a:xfrm>
          <a:prstGeom prst="roundRect">
            <a:avLst>
              <a:gd name="adj" fmla="val 9091"/>
            </a:avLst>
          </a:prstGeom>
          <a:solidFill>
            <a:srgbClr val="E6E6E6"/>
          </a:solidFill>
          <a:ln w="1587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9784080" y="1600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22128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 fijo: si se llena, hay que crear un array más grande y copiar todo.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enlazada (memoria dinámica)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03720" y="3474720"/>
            <a:ext cx="777240" cy="502920"/>
          </a:xfrm>
          <a:prstGeom prst="roundRect">
            <a:avLst>
              <a:gd name="adj" fmla="val 9091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 txBox="1"/>
          <p:nvPr/>
        </p:nvSpPr>
        <p:spPr>
          <a:xfrm>
            <a:off x="6903720" y="34747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17536" y="3643884"/>
            <a:ext cx="33832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8092440" y="3474720"/>
            <a:ext cx="777240" cy="502920"/>
          </a:xfrm>
          <a:prstGeom prst="roundRect">
            <a:avLst>
              <a:gd name="adj" fmla="val 9091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 txBox="1"/>
          <p:nvPr/>
        </p:nvSpPr>
        <p:spPr>
          <a:xfrm>
            <a:off x="8092440" y="34747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06256" y="3643884"/>
            <a:ext cx="33832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9281160" y="3474720"/>
            <a:ext cx="777240" cy="502920"/>
          </a:xfrm>
          <a:prstGeom prst="roundRect">
            <a:avLst>
              <a:gd name="adj" fmla="val 9091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 txBox="1"/>
          <p:nvPr/>
        </p:nvSpPr>
        <p:spPr>
          <a:xfrm>
            <a:off x="9281160" y="34747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94976" y="3643884"/>
            <a:ext cx="33832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10469880" y="347472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E6E6E6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 txBox="1"/>
          <p:nvPr/>
        </p:nvSpPr>
        <p:spPr>
          <a:xfrm>
            <a:off x="10469880" y="34747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160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Crece de a un nodo. Cada nodo "sabe" dónde está el siguiente.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903720" y="4892040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F3E9EC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 txBox="1"/>
          <p:nvPr/>
        </p:nvSpPr>
        <p:spPr>
          <a:xfrm>
            <a:off x="7086600" y="489204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Próximas clases: veremos otras estructuras dinámicas — Pilas (Clase 5), Colas (Clase 6) y Árboles (Clases 8 y 9).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recursividad?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43000"/>
            <a:ext cx="60350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método RECURSIVO es aquel que se llama a sí mismo para resolver un problema, dividiéndolo en un problema más chico del mismo tipo.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método recursivo necesita dos partes:</a:t>
            </a:r>
            <a:endParaRPr lang="en-US" sz="1500" dirty="0"/>
          </a:p>
          <a:p>
            <a:pPr marL="457200" lvl="1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base: la condición que NO vuelve a llamarse a sí misma. Corta la recursividad.</a:t>
            </a:r>
            <a:endParaRPr lang="en-US" sz="1500" dirty="0"/>
          </a:p>
          <a:p>
            <a:pPr marL="457200" lvl="1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recursivo: resuelve el problema llamándose a sí mismo con una versión más simple/chica del mismo problema.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falta el caso base (o nunca se alcanza), el método se llama a sí mismo infinitamente hasta un error de "desbordamiento de pila" (StackOverflow).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188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 de llamadas: CuentaRegresiva(3)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45920"/>
            <a:ext cx="4754880" cy="457200"/>
          </a:xfrm>
          <a:prstGeom prst="roundRect">
            <a:avLst>
              <a:gd name="adj" fmla="val 10000"/>
            </a:avLst>
          </a:prstGeom>
          <a:solidFill>
            <a:srgbClr val="F7F1F3"/>
          </a:solidFill>
          <a:ln w="12700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690372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CuentaRegresiva(3)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59752" y="2212848"/>
            <a:ext cx="4498848" cy="457200"/>
          </a:xfrm>
          <a:prstGeom prst="roundRect">
            <a:avLst>
              <a:gd name="adj" fmla="val 10000"/>
            </a:avLst>
          </a:prstGeom>
          <a:solidFill>
            <a:srgbClr val="F7F1F3"/>
          </a:solidFill>
          <a:ln w="12700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7159752" y="221284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CuentaRegresiva(2)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15784" y="2779776"/>
            <a:ext cx="4242816" cy="457200"/>
          </a:xfrm>
          <a:prstGeom prst="roundRect">
            <a:avLst>
              <a:gd name="adj" fmla="val 10000"/>
            </a:avLst>
          </a:prstGeom>
          <a:solidFill>
            <a:srgbClr val="F7F1F3"/>
          </a:solidFill>
          <a:ln w="12700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7415784" y="2779776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CuentaRegresiva(1)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671816" y="3346704"/>
            <a:ext cx="3986784" cy="457200"/>
          </a:xfrm>
          <a:prstGeom prst="roundRect">
            <a:avLst>
              <a:gd name="adj" fmla="val 10000"/>
            </a:avLst>
          </a:prstGeom>
          <a:solidFill>
            <a:srgbClr val="A9843C"/>
          </a:solidFill>
          <a:ln w="12700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7671816" y="3346704"/>
            <a:ext cx="3986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CuentaRegresiva(0)  →  caso base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400507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llamada queda "apilada" en memoria hasta que se alcanza el caso base; ahí empiezan a resolverse (y desapilarse) en orden inverso.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Anatomía de un método recursivo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430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general de cualquier método recursivo: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11185855" cy="2286000"/>
          </a:xfrm>
          <a:prstGeom prst="rect">
            <a:avLst/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667512" y="1892808"/>
            <a:ext cx="10856671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TipoRetorno MetodoRecursivo(parametros)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(condicion_caso_base)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valor_conocido;      // CASO BASE: no vuelve a llamarse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... MetodoRecursivo(parametros_mas_chicos) ...;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// CASO RECURSIVO: problema mas chico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4297680"/>
            <a:ext cx="5410048" cy="1828800"/>
          </a:xfrm>
          <a:prstGeom prst="roundRect">
            <a:avLst>
              <a:gd name="adj" fmla="val 3000"/>
            </a:avLst>
          </a:prstGeom>
          <a:solidFill>
            <a:srgbClr val="F3E9EC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731520" y="4434840"/>
            <a:ext cx="495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base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Detiene la recursividad. Sin él, el método nunca termina de llamarse a sí mismo.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78728" y="4297680"/>
            <a:ext cx="5410048" cy="1828800"/>
          </a:xfrm>
          <a:prstGeom prst="roundRect">
            <a:avLst>
              <a:gd name="adj" fmla="val 3000"/>
            </a:avLst>
          </a:prstGeom>
          <a:solidFill>
            <a:srgbClr val="F3E9EC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6507328" y="4434840"/>
            <a:ext cx="495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recursivo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el problema (por ejemplo, n-1 en vez de n) y se acerca al caso base en cada llamada.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cuenta regresiva recursiva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430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mostrar por consola "10 9 8 7 6 5 4 3 2 1".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base: cuando n llega a 0, no se llama más a sí misma (return).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recursivo: imprime n y se llama a sí misma con n-1.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0" y="1143000"/>
            <a:ext cx="5806440" cy="2468880"/>
          </a:xfrm>
          <a:prstGeom prst="rect">
            <a:avLst/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6016752" y="1252728"/>
            <a:ext cx="547725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CuentaRegresiva(int n)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== 0)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              // caso base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Console.Write(n + " ");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CuentaRegresiva(n - 1);  // caso recursivo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4114800"/>
            <a:ext cx="11185855" cy="1965960"/>
          </a:xfrm>
          <a:prstGeom prst="roundRect">
            <a:avLst>
              <a:gd name="adj" fmla="val 2791"/>
            </a:avLst>
          </a:prstGeom>
          <a:solidFill>
            <a:srgbClr val="F7F1F3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73152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 de ejecución: CuentaRegresiva(3)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1772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n=3 → imprime 3, llama n=2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3776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n=2 → imprime 2, llama n=1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5780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n=1 → imprime 1, llama n=0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778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n=0 → caso base, no imprime nada, corta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factorial recursivo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43000"/>
            <a:ext cx="5120640" cy="84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n! = n × (n-1) × (n-2) × ... × 1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base: 0! = 1 (por definición matemática).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recursivo: n! = n × (n-1)!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1" y="3611880"/>
            <a:ext cx="4026350" cy="2468880"/>
          </a:xfrm>
          <a:prstGeom prst="roundRect">
            <a:avLst>
              <a:gd name="adj" fmla="val 2222"/>
            </a:avLst>
          </a:prstGeom>
          <a:solidFill>
            <a:srgbClr val="F7F1F3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731520" y="3749040"/>
            <a:ext cx="47121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resuelve Factorial(4)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160520"/>
            <a:ext cx="104543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Factorial(4) = 4 * Factorial(3)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489704"/>
            <a:ext cx="104543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Factorial(3) = 3 * Factorial(2)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818888"/>
            <a:ext cx="104543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Factorial(2) = 2 * Factorial(1)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148072"/>
            <a:ext cx="10454335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Factorial(1) = 1 * Factorial(0)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1" y="5477256"/>
            <a:ext cx="402635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Factorial(0) = 1 ← caso base: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66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se empieza a "desapilar"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8064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Factorial(4) = 4×3×2×1×1 = 24</a:t>
            </a:r>
            <a:endParaRPr lang="en-US" sz="125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0DAF6A29-FFD1-F42F-273A-D5DEFF56A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632" y="1143000"/>
            <a:ext cx="6095462" cy="5079552"/>
          </a:xfrm>
          <a:prstGeom prst="rect">
            <a:avLst/>
          </a:prstGeom>
        </p:spPr>
      </p:pic>
      <p:sp>
        <p:nvSpPr>
          <p:cNvPr id="20" name="Shape 5">
            <a:extLst>
              <a:ext uri="{FF2B5EF4-FFF2-40B4-BE49-F238E27FC236}">
                <a16:creationId xmlns:a16="http://schemas.microsoft.com/office/drawing/2014/main" id="{C62D39FE-C204-46AF-3B73-FBEACBB944D4}"/>
              </a:ext>
            </a:extLst>
          </p:cNvPr>
          <p:cNvSpPr/>
          <p:nvPr/>
        </p:nvSpPr>
        <p:spPr>
          <a:xfrm>
            <a:off x="502921" y="2125980"/>
            <a:ext cx="4940750" cy="1426464"/>
          </a:xfrm>
          <a:prstGeom prst="rect">
            <a:avLst/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ADD6FC7B-95C9-909B-0F70-5D237E0C72E2}"/>
              </a:ext>
            </a:extLst>
          </p:cNvPr>
          <p:cNvSpPr txBox="1"/>
          <p:nvPr/>
        </p:nvSpPr>
        <p:spPr>
          <a:xfrm>
            <a:off x="642974" y="2215134"/>
            <a:ext cx="4660644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long Factorial(int n)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== 0)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1;               // caso base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Factorial(n-1); // caso recursivo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Recursividad vs. iteración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10048" cy="5029200"/>
          </a:xfrm>
          <a:prstGeom prst="roundRect">
            <a:avLst>
              <a:gd name="adj" fmla="val 1091"/>
            </a:avLst>
          </a:prstGeom>
          <a:solidFill>
            <a:srgbClr val="F3E9EC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731520" y="137160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Recursividad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28800"/>
            <a:ext cx="495284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más corto y cercano a la definición matemática del problema.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cuando la propia estructura de datos es recursiva (listas, árboles).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llamada consume memoria de pila: si son muchas, puede haber StackOverflow.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ser más lenta que la versión iterativa (overhead de cada llamada).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188720"/>
            <a:ext cx="5410048" cy="5029200"/>
          </a:xfrm>
          <a:prstGeom prst="roundRect">
            <a:avLst>
              <a:gd name="adj" fmla="val 1091"/>
            </a:avLst>
          </a:prstGeom>
          <a:solidFill>
            <a:srgbClr val="F7F1F3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6507328" y="137160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Iteración (bucles)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1828800"/>
            <a:ext cx="495284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Generalmente usa menos memoria (una sola variable de control, no se apila nada).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Suele ser más rápida para casos simples (sumar, recorrer, contar).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puede volverse menos claro cuando el problema es naturalmente recursivo.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 son formas válidas de resolver un mismo problema: se elige según el caso.</a:t>
            </a:r>
            <a:endParaRPr lang="en-US" sz="135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76F26D2-D18D-4E78-94CE-750DB27E0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431" y="4446448"/>
            <a:ext cx="3629025" cy="12954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9109BA0-F4E4-4181-AD9A-2434F5AFB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573" y="4153256"/>
            <a:ext cx="2831002" cy="188178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1 (C#) — mitad de clase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502920" y="10515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RECURSIVIDAD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691640"/>
            <a:ext cx="111858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en C# (aplicación de consola) dos métodos recursivos:</a:t>
            </a:r>
            <a:endParaRPr lang="en-US" sz="1600" dirty="0"/>
          </a:p>
          <a:p>
            <a:pPr marL="457200" lvl="1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Potencia(int baseNum, int exponente): calcula baseNum elevado a exponente, sin usar Math.Pow ni bucles (caso base: exponente = 0 devuelve 1).</a:t>
            </a:r>
            <a:endParaRPr lang="en-US" sz="1600" dirty="0"/>
          </a:p>
          <a:p>
            <a:pPr marL="457200" lvl="1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 SumaDigitos(int numero): devuelve la suma de los dígitos de un número entero positivo (ej: 1234 → 1+2+3+4 = 10).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ambos métodos mostrando en consola el resultado de Potencia(2,5), Potencia(5,0) y SumaDigitos(1234).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4663440"/>
            <a:ext cx="11185855" cy="1463040"/>
          </a:xfrm>
          <a:prstGeom prst="roundRect">
            <a:avLst>
              <a:gd name="adj" fmla="val 3750"/>
            </a:avLst>
          </a:prstGeom>
          <a:solidFill>
            <a:srgbClr val="F3E9EC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777240" y="4663440"/>
            <a:ext cx="106372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Trabajen individualmente o </a:t>
            </a:r>
            <a:r>
              <a:rPr lang="en-US" sz="1500" i="1" dirty="0" err="1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500" i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i="1" dirty="0" err="1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</a:t>
            </a:r>
            <a:r>
              <a:rPr lang="en-US" sz="1500" i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Cuando terminen, seguimos con la solución.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ejercicio 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887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completo, comentado, con la traza de ejecución paso a paso, está en el archivo adjunto: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1185855" cy="640080"/>
          </a:xfrm>
          <a:prstGeom prst="roundRect">
            <a:avLst>
              <a:gd name="adj" fmla="val 8571"/>
            </a:avLst>
          </a:prstGeom>
          <a:solidFill>
            <a:srgbClr val="F3E9EC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731520" y="187452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Ejercicio1_Recursividad.docx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43200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Incluye: los métodos Potencia y SumaDigitos comentados línea por línea (marcando caso base y caso recursivo), el Main de prueba y la explicación de cómo se resuelve cada llamada.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2743200"/>
            <a:ext cx="5257800" cy="2926080"/>
          </a:xfrm>
          <a:prstGeom prst="rect">
            <a:avLst/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6565392" y="2852928"/>
            <a:ext cx="492861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Potencia(int b, int e)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 == 0) return 1;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 * Potencia(b, e-1);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Potencia(2,5) = 32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Potencia(5,0) = 1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SumaDigitos(1234) = 10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una lista enlazada?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43000"/>
            <a:ext cx="59436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de las estructuras de datos fundamentales: una secuencia de NODOS.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nodo guarda un dato y una (o dos) referencias al nodo anterior y/o siguiente.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tipo autorreferenciado: un nodo contiene una referencia a otro dato del mismo tipo.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 frente a un array: el orden "lógico" de los elementos no depende de dónde estén físicamente en memoria.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insertar y eliminar en cualquier punto sin mover el resto de los elementos (a diferencia de un array).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1188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nodo (NodoSimple)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60020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F7F1F3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6995160" y="1828800"/>
            <a:ext cx="19202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699516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98280" y="1828800"/>
            <a:ext cx="19202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909828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4871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campo Dato guarda el valor; el campo Siguiente apunta al próximo NodoSimple (o a null si es el último).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Encadenando varios nodos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3657600"/>
            <a:ext cx="868680" cy="530352"/>
          </a:xfrm>
          <a:prstGeom prst="roundRect">
            <a:avLst>
              <a:gd name="adj" fmla="val 8621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 txBox="1"/>
          <p:nvPr/>
        </p:nvSpPr>
        <p:spPr>
          <a:xfrm>
            <a:off x="6720840" y="365760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26096" y="3840480"/>
            <a:ext cx="38404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8046720" y="3657600"/>
            <a:ext cx="868680" cy="530352"/>
          </a:xfrm>
          <a:prstGeom prst="roundRect">
            <a:avLst>
              <a:gd name="adj" fmla="val 8621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 txBox="1"/>
          <p:nvPr/>
        </p:nvSpPr>
        <p:spPr>
          <a:xfrm>
            <a:off x="8046720" y="365760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51976" y="3840480"/>
            <a:ext cx="38404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9372600" y="3657600"/>
            <a:ext cx="868680" cy="530352"/>
          </a:xfrm>
          <a:prstGeom prst="roundRect">
            <a:avLst>
              <a:gd name="adj" fmla="val 8621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 txBox="1"/>
          <p:nvPr/>
        </p:nvSpPr>
        <p:spPr>
          <a:xfrm>
            <a:off x="9372600" y="365760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277856" y="3840480"/>
            <a:ext cx="38404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10698480" y="3657600"/>
            <a:ext cx="868680" cy="530352"/>
          </a:xfrm>
          <a:prstGeom prst="roundRect">
            <a:avLst>
              <a:gd name="adj" fmla="val 8621"/>
            </a:avLst>
          </a:prstGeom>
          <a:solidFill>
            <a:srgbClr val="E6E6E6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 txBox="1"/>
          <p:nvPr/>
        </p:nvSpPr>
        <p:spPr>
          <a:xfrm>
            <a:off x="10698480" y="365760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4434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lista solo necesita "recordar" el primer nodo (NodoInicial); a partir de ahí se llega a todos los demás siguiendo las referencias.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de las listas enlazadas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318608" cy="1965960"/>
          </a:xfrm>
          <a:prstGeom prst="roundRect">
            <a:avLst>
              <a:gd name="adj" fmla="val 2791"/>
            </a:avLst>
          </a:prstGeom>
          <a:solidFill>
            <a:srgbClr val="F7F1F3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731520" y="132588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Simplemente enlazada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78308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nodo apunta solo al siguiente. El último apunta a NULL. Se recorre en un solo sentido.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70168" y="1188720"/>
            <a:ext cx="5318608" cy="1965960"/>
          </a:xfrm>
          <a:prstGeom prst="roundRect">
            <a:avLst>
              <a:gd name="adj" fmla="val 2791"/>
            </a:avLst>
          </a:prstGeom>
          <a:solidFill>
            <a:srgbClr val="F7F1F3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6598768" y="132588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Doblemente enlazada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98768" y="178308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nodo apunta al siguiente Y al anterior. Se puede recorrer en ambos sentidos.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474720"/>
            <a:ext cx="5318608" cy="1965960"/>
          </a:xfrm>
          <a:prstGeom prst="roundRect">
            <a:avLst>
              <a:gd name="adj" fmla="val 2791"/>
            </a:avLst>
          </a:prstGeom>
          <a:solidFill>
            <a:srgbClr val="F7F1F3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731520" y="361188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Simplemente enlazada circular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6908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la simple, pero el último nodo apunta de nuevo al primero: no tiene NULL.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70168" y="3474720"/>
            <a:ext cx="5318608" cy="1965960"/>
          </a:xfrm>
          <a:prstGeom prst="roundRect">
            <a:avLst>
              <a:gd name="adj" fmla="val 2791"/>
            </a:avLst>
          </a:prstGeom>
          <a:solidFill>
            <a:srgbClr val="F7F1F3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 txBox="1"/>
          <p:nvPr/>
        </p:nvSpPr>
        <p:spPr>
          <a:xfrm>
            <a:off x="6598768" y="361188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Doblemente enlazada circular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98768" y="406908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 las dos anteriores: doble referencia y el círculo se cierra en ambos sentidos.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simplemente enlazadas: estructura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430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lista básica tiene UN enlace por nodo: apunta al siguiente (o a NULL si es el último).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clase de la lista solo necesita guardar una referencia: el NodoInicial.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ahí, todas las operaciones se resuelven recorriendo esa cadena de referencias.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89320" y="1143000"/>
            <a:ext cx="5669280" cy="2743200"/>
          </a:xfrm>
          <a:prstGeom prst="rect">
            <a:avLst/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6153912" y="1252728"/>
            <a:ext cx="534009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NodoSimple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Numero;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Nombre;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NodoSimple Siguiente;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ListaEnlazadaSimple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NodoSimple NodoInicial = null;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operaciones ...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0233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ejemplo completo: 02_ListaSimplementeEnlazada_Ejemplo.cs (carpeta "Código de Ejemplo")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66344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502920" y="4663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NodoInicial→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85416" y="4878324"/>
            <a:ext cx="29260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2514600" y="466344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2514600" y="4663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Numero: 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97096" y="4878324"/>
            <a:ext cx="29260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4526280" y="466344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4526280" y="4663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Nombre: Ana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8776" y="4878324"/>
            <a:ext cx="29260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6537960" y="4663440"/>
            <a:ext cx="868680" cy="594360"/>
          </a:xfrm>
          <a:prstGeom prst="roundRect">
            <a:avLst>
              <a:gd name="adj" fmla="val 7692"/>
            </a:avLst>
          </a:prstGeom>
          <a:solidFill>
            <a:srgbClr val="E6E6E6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6537960" y="46634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5440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(Representación simplificada de un nodo con sus datos)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sobre la lista: agregar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Antes: lista con 2 nodos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502920" y="15087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08176" y="1677924"/>
            <a:ext cx="33832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1783080" y="150876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1783080" y="15087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88336" y="1677924"/>
            <a:ext cx="33832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3063240" y="150876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E6E6E6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3063240" y="150876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AgregarAlFinal(30)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E4EEF0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50292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08176" y="2958084"/>
            <a:ext cx="33832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1783080" y="278892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E4EEF0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178308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88336" y="2958084"/>
            <a:ext cx="33832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3063240" y="278892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E4EEF0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 txBox="1"/>
          <p:nvPr/>
        </p:nvSpPr>
        <p:spPr>
          <a:xfrm>
            <a:off x="306324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968496" y="2958084"/>
            <a:ext cx="33832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4343400" y="278892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E6E6E6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 txBox="1"/>
          <p:nvPr/>
        </p:nvSpPr>
        <p:spPr>
          <a:xfrm>
            <a:off x="434340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34290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 (recursiva o iterativamente) hasta el último nodo y engancha ahí el nuevo.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AgregarAlPrincipio(5)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4572000"/>
            <a:ext cx="777240" cy="502920"/>
          </a:xfrm>
          <a:prstGeom prst="roundRect">
            <a:avLst>
              <a:gd name="adj" fmla="val 9091"/>
            </a:avLst>
          </a:prstGeom>
          <a:solidFill>
            <a:srgbClr val="E4EEF0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 txBox="1"/>
          <p:nvPr/>
        </p:nvSpPr>
        <p:spPr>
          <a:xfrm>
            <a:off x="502920" y="4572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316736" y="4741164"/>
            <a:ext cx="29260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2" name="Shape 30"/>
          <p:cNvSpPr/>
          <p:nvPr/>
        </p:nvSpPr>
        <p:spPr>
          <a:xfrm>
            <a:off x="1645920" y="4572000"/>
            <a:ext cx="777240" cy="502920"/>
          </a:xfrm>
          <a:prstGeom prst="roundRect">
            <a:avLst>
              <a:gd name="adj" fmla="val 9091"/>
            </a:avLst>
          </a:prstGeom>
          <a:solidFill>
            <a:srgbClr val="E4EEF0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 txBox="1"/>
          <p:nvPr/>
        </p:nvSpPr>
        <p:spPr>
          <a:xfrm>
            <a:off x="1645920" y="4572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459736" y="4741164"/>
            <a:ext cx="29260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5" name="Shape 33"/>
          <p:cNvSpPr/>
          <p:nvPr/>
        </p:nvSpPr>
        <p:spPr>
          <a:xfrm>
            <a:off x="2788920" y="4572000"/>
            <a:ext cx="777240" cy="502920"/>
          </a:xfrm>
          <a:prstGeom prst="roundRect">
            <a:avLst>
              <a:gd name="adj" fmla="val 9091"/>
            </a:avLst>
          </a:prstGeom>
          <a:solidFill>
            <a:srgbClr val="E4EEF0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 txBox="1"/>
          <p:nvPr/>
        </p:nvSpPr>
        <p:spPr>
          <a:xfrm>
            <a:off x="2788920" y="4572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02736" y="4741164"/>
            <a:ext cx="29260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8" name="Shape 36"/>
          <p:cNvSpPr/>
          <p:nvPr/>
        </p:nvSpPr>
        <p:spPr>
          <a:xfrm>
            <a:off x="3931920" y="4572000"/>
            <a:ext cx="777240" cy="502920"/>
          </a:xfrm>
          <a:prstGeom prst="roundRect">
            <a:avLst>
              <a:gd name="adj" fmla="val 9091"/>
            </a:avLst>
          </a:prstGeom>
          <a:solidFill>
            <a:srgbClr val="E4EEF0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 txBox="1"/>
          <p:nvPr/>
        </p:nvSpPr>
        <p:spPr>
          <a:xfrm>
            <a:off x="3931920" y="4572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45736" y="4741164"/>
            <a:ext cx="29260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1" name="Shape 39"/>
          <p:cNvSpPr/>
          <p:nvPr/>
        </p:nvSpPr>
        <p:spPr>
          <a:xfrm>
            <a:off x="5074920" y="457200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E6E6E6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 txBox="1"/>
          <p:nvPr/>
        </p:nvSpPr>
        <p:spPr>
          <a:xfrm>
            <a:off x="5074920" y="45720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52120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nuevo nodo pasa a ser el NodoInicial, y su Siguiente apunta al viejo primero.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83680" y="1097280"/>
            <a:ext cx="5074920" cy="4480560"/>
          </a:xfrm>
          <a:prstGeom prst="rect">
            <a:avLst/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 txBox="1"/>
          <p:nvPr/>
        </p:nvSpPr>
        <p:spPr>
          <a:xfrm>
            <a:off x="6748272" y="1207008"/>
            <a:ext cx="4745736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AgregarAlFinal(int v)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NodoSimple nuevo = new NodoSimple(v);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(primero == null) { primero = nuevo; return; }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NodoSimple ultimo = BuscarUltimo(primero);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ultimo.Siguiente = nuevo;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BuscarUltimo es RECURSIVO: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NodoSimple BuscarUltimo(NodoSimple n)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(n.Siguiente == null) return n;  // caso base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BuscarUltimo(n.Siguiente);   // caso recursivo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Operaciones: recorrer y buscar (recursivo)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43000"/>
            <a:ext cx="111858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Recorrer una lista significa ir de nodo en nodo siguiendo las referencias Siguiente, hasta llegar a null.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puede hacer en forma ITERATIVA (con un while) o RECURSIVA (un método que se llama a sí mismo con Siguiente).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es un recorrido que compara el dato de cada nodo contra lo buscado, y corta apenas lo encuentra.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88036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5410048" cy="2651760"/>
          </a:xfrm>
          <a:prstGeom prst="rect">
            <a:avLst/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667512" y="3355848"/>
            <a:ext cx="50808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NodoSimple actual = primero;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(actual != null)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(actual.Dato == buscado)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actual;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actual = actual.Siguiente;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null;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78728" y="288036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3246120"/>
            <a:ext cx="5410048" cy="2651760"/>
          </a:xfrm>
          <a:prstGeom prst="rect">
            <a:avLst/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6443320" y="3355848"/>
            <a:ext cx="50808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NodoSimple Buscar(NodoSimple n, int v)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== null)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null;         // caso base: no esta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(n.Dato == v)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n;            // caso base: lo encontro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Buscar(n.Siguiente, v); // caso recursivo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sobre la lista: eliminar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430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Antes: eliminar el nodo "20" (intermedio)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502920" y="1554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08176" y="1723644"/>
            <a:ext cx="33832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1783080" y="155448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1783080" y="1554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88336" y="1723644"/>
            <a:ext cx="33832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3063240" y="155448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 txBox="1"/>
          <p:nvPr/>
        </p:nvSpPr>
        <p:spPr>
          <a:xfrm>
            <a:off x="3063240" y="1554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68496" y="1723644"/>
            <a:ext cx="33832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4343400" y="155448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E6E6E6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4343400" y="15544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242316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Después: el anterior (10) pasa a apuntar directo al siguiente (30)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283464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E4EEF0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502920" y="28346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408176" y="3003804"/>
            <a:ext cx="33832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1783080" y="283464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E4EEF0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 txBox="1"/>
          <p:nvPr/>
        </p:nvSpPr>
        <p:spPr>
          <a:xfrm>
            <a:off x="1783080" y="28346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88336" y="3003804"/>
            <a:ext cx="33832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3063240" y="283464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E6E6E6"/>
          </a:solidFill>
          <a:ln w="127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 txBox="1"/>
          <p:nvPr/>
        </p:nvSpPr>
        <p:spPr>
          <a:xfrm>
            <a:off x="3063240" y="28346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783080" y="2834640"/>
            <a:ext cx="868680" cy="502920"/>
          </a:xfrm>
          <a:prstGeom prst="roundRect">
            <a:avLst>
              <a:gd name="adj" fmla="val 9091"/>
            </a:avLst>
          </a:prstGeom>
          <a:solidFill>
            <a:srgbClr val="F0F0F0"/>
          </a:solidFill>
          <a:ln w="15875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 txBox="1"/>
          <p:nvPr/>
        </p:nvSpPr>
        <p:spPr>
          <a:xfrm>
            <a:off x="1783080" y="28346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 flipV="1">
            <a:off x="1783080" y="2834640"/>
            <a:ext cx="868680" cy="502920"/>
          </a:xfrm>
          <a:prstGeom prst="line">
            <a:avLst/>
          </a:prstGeom>
          <a:noFill/>
          <a:ln w="25400">
            <a:solidFill>
              <a:srgbClr val="AA333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 txBox="1"/>
          <p:nvPr/>
        </p:nvSpPr>
        <p:spPr>
          <a:xfrm>
            <a:off x="502920" y="370332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QuitarPrimero(): el NodoInicial pasa a ser directamente NodoInicial.Siguiente.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QuitarUltimo(): hay que encontrar el ANTEÚLTIMO nodo (recursivo) y ponerle Siguiente = null.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QuitarPosición(v): busca el nodo ANTERIOR al que tiene el dato v, y lo enlaza con el siguiente de ese nodo ("salteándolo").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583680" y="3703320"/>
            <a:ext cx="5074920" cy="2377440"/>
          </a:xfrm>
          <a:prstGeom prst="rect">
            <a:avLst/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 txBox="1"/>
          <p:nvPr/>
        </p:nvSpPr>
        <p:spPr>
          <a:xfrm>
            <a:off x="6748272" y="3813048"/>
            <a:ext cx="474573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nodoAnterior apunta al nodo a eliminar;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 desconectamos "saltandolo":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nodoAnterior.Siguiente =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nodoAnterior.Siguiente.Siguiente;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nodo eliminado queda sin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ninguna referencia que apunte a el,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por lo que se descarta de memoria.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A90D-E284-0254-C733-E3692783F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1DFEF0-1E68-30CA-1C33-F6BE90F5487D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203A15-98D1-6195-D008-C7B456D2C587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simplemente enlazadas: estructura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AEB3F3-2035-F4C4-F07A-1A6755F535E0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96977F-2178-B6F8-C831-3A4125D41991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1F9AD5EF-DD2F-A359-8CD6-3517C85FA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555" y="2234889"/>
            <a:ext cx="7794889" cy="280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263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F7ABC-1347-B36B-990E-AA9F08E76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4DB311-521C-8159-A72C-ED2BD342C1FA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D41CDE-EFEE-D781-5973-8E901806687F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simplemente enlazadas: estructura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F7741C-C281-E6A1-15C1-E1612901B6F8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C46A231-70CA-752B-7520-2F22D0FCD5B7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FB4ED5F3-1D5F-A02C-62ED-C8B056ABAEE8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931" y="1075741"/>
            <a:ext cx="7818137" cy="470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755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12D81-F71B-B63F-B993-E4122E73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622C1C-20B5-DE7C-683F-329355F6E21D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824165-3E02-3707-6332-FEE0C62BFF44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simplemente enlazadas: estructura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FA962C-BF3A-7C82-DCCD-229A7BC36830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3946262-88A3-11A3-0EC3-FB06A302FD9B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A53CBDB5-4E54-E83C-E689-127D96D84D37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796" y="841248"/>
            <a:ext cx="8466457" cy="541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856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17415-563E-13F9-1D04-0EB805AB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1A0F65-F796-C804-A63E-83F9259E7EF5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B8BC50-B913-EE09-E5E5-7FB03B94468D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simplemente enlazadas: estructura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DCBC0A-BCED-155C-1E46-6C6DAAA94502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BAE2E7-1A9C-D928-A659-FEC8C848204F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B9D4C85-8575-44C1-A6E6-C7206E330B54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498" y="1096065"/>
            <a:ext cx="6203928" cy="466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750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7D1C0-7DDF-FDBF-E645-12F3CBB74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0E05C3-1123-B61C-17D8-932C5114326B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5BABE4-F0AA-F893-BB07-B2E76C7E2454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simplemente enlazadas: estructura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AE7CBE-9644-E2AC-7723-F12C23E2DB55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F45DD5-7005-A49C-18F7-30F8E3713729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F06FF5C-E12D-4BFA-B43A-00314EA9302A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753" y="1241400"/>
            <a:ext cx="6396494" cy="437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166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doblemente enlazadas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43000"/>
            <a:ext cx="111858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nodo tiene DOS referencias: Anterior y Siguiente.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puede recorrer en ambos sentidos, sin tener que volver a empezar desde el primero.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Insertar o eliminar solo requiere la dirección del nodo (no hace falta buscar "el anterior" como en la lista simple).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Costo: cada nodo ocupa más memoria (una referencia extra) y hay que mantener actualizadas ambas referencias en cada operación.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1005840" cy="566928"/>
          </a:xfrm>
          <a:prstGeom prst="roundRect">
            <a:avLst>
              <a:gd name="adj" fmla="val 8065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19656" y="3802441"/>
            <a:ext cx="70408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1819656" y="4029212"/>
            <a:ext cx="704088" cy="164592"/>
          </a:xfrm>
          <a:prstGeom prst="leftArrow">
            <a:avLst/>
          </a:prstGeom>
          <a:solidFill>
            <a:srgbClr val="2C6E7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2560320" y="3703320"/>
            <a:ext cx="1005840" cy="566928"/>
          </a:xfrm>
          <a:prstGeom prst="roundRect">
            <a:avLst>
              <a:gd name="adj" fmla="val 8065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2560320" y="37033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02736" y="3802441"/>
            <a:ext cx="70408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3602736" y="4029212"/>
            <a:ext cx="704088" cy="164592"/>
          </a:xfrm>
          <a:prstGeom prst="leftArrow">
            <a:avLst/>
          </a:prstGeom>
          <a:solidFill>
            <a:srgbClr val="2C6E7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4343400" y="3703320"/>
            <a:ext cx="1005840" cy="566928"/>
          </a:xfrm>
          <a:prstGeom prst="roundRect">
            <a:avLst>
              <a:gd name="adj" fmla="val 8065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4343400" y="37033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657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→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4343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6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Anterior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11185855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 txBox="1"/>
          <p:nvPr/>
        </p:nvSpPr>
        <p:spPr>
          <a:xfrm>
            <a:off x="667512" y="4773168"/>
            <a:ext cx="10856671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NodoDoble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Dato;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NodoDoble Anterior;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NodoDoble Siguiente;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976BC-1AE1-CFC6-D0DB-3E2F6022A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856478-C58F-C7E2-67DE-67A890FA3EBA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FDC5D0-96A6-3274-8890-DD1539A88ED6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doblemente enlazadas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25B757-D48A-A22D-CC07-B5709D17A948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CBB69F0-1B71-B26D-254F-75E79D3373A9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5BB735D-E7EC-D871-AA95-F75777678D0D}"/>
              </a:ext>
            </a:extLst>
          </p:cNvPr>
          <p:cNvSpPr txBox="1"/>
          <p:nvPr/>
        </p:nvSpPr>
        <p:spPr>
          <a:xfrm>
            <a:off x="502920" y="1143000"/>
            <a:ext cx="111858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nodo tiene DOS referencias: Anterior y Siguiente.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puede recorrer en ambos sentidos, sin tener que volver a empezar desde el primero.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Insertar o eliminar solo requiere la dirección del nodo (no hace falta buscar "el anterior" como en la lista simple).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Costo: cada nodo ocupa más memoria (una referencia extra) y hay que mantener actualizadas ambas referencias en cada operación.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77DF922-44D3-7FE6-03D4-768AB3D3944C}"/>
              </a:ext>
            </a:extLst>
          </p:cNvPr>
          <p:cNvSpPr txBox="1"/>
          <p:nvPr/>
        </p:nvSpPr>
        <p:spPr>
          <a:xfrm>
            <a:off x="5029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893F743-20A3-B5A8-C556-A8388EC61F71}"/>
              </a:ext>
            </a:extLst>
          </p:cNvPr>
          <p:cNvSpPr/>
          <p:nvPr/>
        </p:nvSpPr>
        <p:spPr>
          <a:xfrm>
            <a:off x="777240" y="3703320"/>
            <a:ext cx="1005840" cy="566928"/>
          </a:xfrm>
          <a:prstGeom prst="roundRect">
            <a:avLst>
              <a:gd name="adj" fmla="val 8065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2587A3A-DD35-367A-7D8E-12FE7E59ECE3}"/>
              </a:ext>
            </a:extLst>
          </p:cNvPr>
          <p:cNvSpPr txBox="1"/>
          <p:nvPr/>
        </p:nvSpPr>
        <p:spPr>
          <a:xfrm>
            <a:off x="777240" y="37033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063FBF9-FAFB-2EDE-6B8D-8D70C10A9B58}"/>
              </a:ext>
            </a:extLst>
          </p:cNvPr>
          <p:cNvSpPr/>
          <p:nvPr/>
        </p:nvSpPr>
        <p:spPr>
          <a:xfrm>
            <a:off x="1819656" y="3802441"/>
            <a:ext cx="70408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CB4FB0B-FD46-B86C-4897-77F5C631EDA7}"/>
              </a:ext>
            </a:extLst>
          </p:cNvPr>
          <p:cNvSpPr/>
          <p:nvPr/>
        </p:nvSpPr>
        <p:spPr>
          <a:xfrm>
            <a:off x="1819656" y="4029212"/>
            <a:ext cx="704088" cy="164592"/>
          </a:xfrm>
          <a:prstGeom prst="leftArrow">
            <a:avLst/>
          </a:prstGeom>
          <a:solidFill>
            <a:srgbClr val="2C6E7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0C9BE07-EA7B-8C33-9254-4820856B5A9D}"/>
              </a:ext>
            </a:extLst>
          </p:cNvPr>
          <p:cNvSpPr/>
          <p:nvPr/>
        </p:nvSpPr>
        <p:spPr>
          <a:xfrm>
            <a:off x="2560320" y="3703320"/>
            <a:ext cx="1005840" cy="566928"/>
          </a:xfrm>
          <a:prstGeom prst="roundRect">
            <a:avLst>
              <a:gd name="adj" fmla="val 8065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FD19E1A-77C8-AD9B-8BB8-150145182219}"/>
              </a:ext>
            </a:extLst>
          </p:cNvPr>
          <p:cNvSpPr txBox="1"/>
          <p:nvPr/>
        </p:nvSpPr>
        <p:spPr>
          <a:xfrm>
            <a:off x="2560320" y="37033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DE58A1C-D1E2-6CD9-A03B-9981ADFA14B5}"/>
              </a:ext>
            </a:extLst>
          </p:cNvPr>
          <p:cNvSpPr/>
          <p:nvPr/>
        </p:nvSpPr>
        <p:spPr>
          <a:xfrm>
            <a:off x="3602736" y="3802441"/>
            <a:ext cx="704088" cy="164592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09DBAC0-8A5A-204C-CE51-BF6972621EC3}"/>
              </a:ext>
            </a:extLst>
          </p:cNvPr>
          <p:cNvSpPr/>
          <p:nvPr/>
        </p:nvSpPr>
        <p:spPr>
          <a:xfrm>
            <a:off x="3602736" y="4029212"/>
            <a:ext cx="704088" cy="164592"/>
          </a:xfrm>
          <a:prstGeom prst="leftArrow">
            <a:avLst/>
          </a:prstGeom>
          <a:solidFill>
            <a:srgbClr val="2C6E7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B7C449C-ED21-00F5-3B8C-60C31F4A554F}"/>
              </a:ext>
            </a:extLst>
          </p:cNvPr>
          <p:cNvSpPr/>
          <p:nvPr/>
        </p:nvSpPr>
        <p:spPr>
          <a:xfrm>
            <a:off x="4343400" y="3703320"/>
            <a:ext cx="1005840" cy="566928"/>
          </a:xfrm>
          <a:prstGeom prst="roundRect">
            <a:avLst>
              <a:gd name="adj" fmla="val 8065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EA5D446-B7DF-AC44-FD6B-832EB0C796E0}"/>
              </a:ext>
            </a:extLst>
          </p:cNvPr>
          <p:cNvSpPr txBox="1"/>
          <p:nvPr/>
        </p:nvSpPr>
        <p:spPr>
          <a:xfrm>
            <a:off x="4343400" y="37033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545E881-7821-81AE-6E93-85D0F1534105}"/>
              </a:ext>
            </a:extLst>
          </p:cNvPr>
          <p:cNvSpPr txBox="1"/>
          <p:nvPr/>
        </p:nvSpPr>
        <p:spPr>
          <a:xfrm>
            <a:off x="1874520" y="3657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→</a:t>
            </a:r>
            <a:endParaRPr lang="en-US" sz="9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476CF7D-8776-E373-D18A-C1D3F5636563}"/>
              </a:ext>
            </a:extLst>
          </p:cNvPr>
          <p:cNvSpPr txBox="1"/>
          <p:nvPr/>
        </p:nvSpPr>
        <p:spPr>
          <a:xfrm>
            <a:off x="1874520" y="4343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6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Anterior</a:t>
            </a:r>
            <a:endParaRPr lang="en-US" sz="9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7718E7B-9EAA-5F69-DCB6-A7FC34983CB1}"/>
              </a:ext>
            </a:extLst>
          </p:cNvPr>
          <p:cNvSpPr/>
          <p:nvPr/>
        </p:nvSpPr>
        <p:spPr>
          <a:xfrm>
            <a:off x="502920" y="4663440"/>
            <a:ext cx="11185855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4E8C748-1CDB-B1D2-C555-9C3EBC69618A}"/>
              </a:ext>
            </a:extLst>
          </p:cNvPr>
          <p:cNvSpPr txBox="1"/>
          <p:nvPr/>
        </p:nvSpPr>
        <p:spPr>
          <a:xfrm>
            <a:off x="667512" y="4773168"/>
            <a:ext cx="10856671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NodoDoble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Dato;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NodoDoble Anterior;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NodoDoble Siguiente;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944067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EAF07-6FB8-16C3-8A42-C982B5D1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A529AA-EB94-C88F-9EA1-0036E2D4C5B2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386DA4-A992-E4C1-D383-002E1917AD36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doblemente enlazadas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394DFFB-90AF-4904-1987-86398019B03C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DD2299-3EC1-03CF-6F5B-0DE3F4B9B056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BC8F8F4D-530B-4953-9E4D-B95D7E89A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697" y="1790516"/>
            <a:ext cx="7992606" cy="3276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22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6FA45-28C8-44E9-AC88-4387BD553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ADF9ED-B809-3A00-B071-9645AC32AF99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DB9809-2806-46E4-7F27-9D9BA0B21725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doblemente enlazadas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3EF905-2F74-06DC-F221-D5E116C7BD16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0A9F177-957B-F016-0905-37EA201CDBA5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68B3B28-75B9-4A63-AB41-628FB5ECDC4E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908" y="938541"/>
            <a:ext cx="7631681" cy="5677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4450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BC869-BBCC-6E0F-E7A8-0813BF5AE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783011-A43E-C61A-921C-F286E163FAED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1273D5-3011-4A70-821C-23F9288516D0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doblemente enlazadas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46EC33-ECA2-CA44-BE27-F50C52FC6555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9017FBD-6C29-2E08-CC6F-BD953D17F57F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3D0FF12-5D21-4081-AA7B-358A628ADA77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295" y="1041716"/>
            <a:ext cx="7381410" cy="534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494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ABDC3-BE21-FF88-2ED3-72528C425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62B9FC-22EF-B42B-9C89-60E520E8B024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957E26-32BF-9947-29D9-96521710ADD5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doblemente enlazadas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5ADE40-AB6F-E02A-59F9-4E2C2EA2FA4D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5A5496-2B9D-0623-7EE1-50FDCFEF9505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8E9F834-218F-467F-BD06-B18B34FC7DC5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1478616"/>
            <a:ext cx="4573849" cy="2525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1DAC2413-1967-46B4-83F7-C917AC7A7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872" y="1130407"/>
            <a:ext cx="5701936" cy="4597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838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45533-0547-2075-B383-594C23A3D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F1783A-5419-D005-8182-D895132D26A9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C8D661-1EF2-1273-9933-8A721E7B635A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doblemente enlazadas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EAC2452-055B-DEB3-3A36-8126AC72B2C0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F8FD477-7DF4-0D09-AF85-922DDEF4FE74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9AC2B03-57EA-4481-93A0-DCA44A3AC86D}"/>
              </a:ext>
            </a:extLst>
          </p:cNvPr>
          <p:cNvPicPr>
            <a:picLocks noGrp="1"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9" r="24177"/>
          <a:stretch/>
        </p:blipFill>
        <p:spPr bwMode="auto">
          <a:xfrm>
            <a:off x="566689" y="1298708"/>
            <a:ext cx="3849255" cy="4260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C81F5CCA-2631-455F-8823-11B5F0A05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696" y="1660188"/>
            <a:ext cx="6816615" cy="38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870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0C010-84B8-A85D-2F1C-F785B1107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B37059-777A-8FD1-96CA-9D88528F0665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86443B-9E6B-AEC0-8B46-DBA3D50DD734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doblemente enlazadas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5F5CF3-561D-5DDA-C7BB-3FCD513A4E93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A0D87ED-D8D0-EEEB-730F-237BA55FF17D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3F28CAB-0A5C-4D56-9130-2CAE68472EB4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110" y="1313234"/>
            <a:ext cx="8635779" cy="4231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9278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75970-9951-C958-AB20-9919F19F0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7203B3-D786-98F2-F54F-79E540F3D216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72EE97-2DE1-3A47-E7DD-7681EDA54072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doblemente enlazadas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56EA34-2ECC-2F7A-B2F1-D44F44447F9C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82527F-7AFD-000F-085C-3A1D90F7638F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4B4A2F3-320A-4A40-8725-EA0FD0AEFBCF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238" y="1131794"/>
            <a:ext cx="9453524" cy="459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95610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circulares (simples y dobles)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4300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y el último nodo quedan unidos: no hay NULL en ningún lado.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puede empezar a recorrer desde cualquier nodo y, siguiendo la lista, se vuelve al punto de partida.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típico: buffers circulares, turnos por ronda (juegos), reproducción en loop.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versión doblemente circular combina ambas ideas: dos referencias por nodo Y el círculo cerrado en los dos sentidos.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 rot="2616595">
            <a:off x="8810380" y="2375066"/>
            <a:ext cx="1149215" cy="146304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 rot="6235085">
            <a:off x="9241918" y="3898525"/>
            <a:ext cx="1321353" cy="146304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 rot="10800000">
            <a:off x="8099387" y="4861574"/>
            <a:ext cx="1028522" cy="146304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 rot="-6235085">
            <a:off x="6638752" y="3933311"/>
            <a:ext cx="1321353" cy="146304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 rot="-2616595">
            <a:off x="7201535" y="2396565"/>
            <a:ext cx="1149215" cy="146304"/>
          </a:xfrm>
          <a:prstGeom prst="rightArrow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8206740" y="1645920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8206740" y="16459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15585" y="2814814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9815585" y="281481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01061" y="4706126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9201061" y="470612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12419" y="4706126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 txBox="1"/>
          <p:nvPr/>
        </p:nvSpPr>
        <p:spPr>
          <a:xfrm>
            <a:off x="7212419" y="470612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97895" y="2814814"/>
            <a:ext cx="777240" cy="457200"/>
          </a:xfrm>
          <a:prstGeom prst="roundRect">
            <a:avLst>
              <a:gd name="adj" fmla="val 10000"/>
            </a:avLst>
          </a:prstGeom>
          <a:solidFill>
            <a:srgbClr val="F7F1F3"/>
          </a:solidFill>
          <a:ln w="15875">
            <a:solidFill>
              <a:srgbClr val="66293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 txBox="1"/>
          <p:nvPr/>
        </p:nvSpPr>
        <p:spPr>
          <a:xfrm>
            <a:off x="6597895" y="281481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5806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circular simple: el último (E) apunta de nuevo al primero (A).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DF20-BE4B-7BAF-4DD3-35BDDD884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D46BC9-CBFB-A945-8304-6D79ECA089C1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0BF255-D216-781B-81AE-7727AD22D3CD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circulares (simples y dobles)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DD08F4-FA6B-4ED1-B13A-1B6BDF60BD52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7A52D0-26A0-A8AB-0AEE-BB0AF0635496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84662537-88BE-51E2-6A60-DE23390699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9" t="1939" r="5828" b="11980"/>
          <a:stretch/>
        </p:blipFill>
        <p:spPr bwMode="auto">
          <a:xfrm>
            <a:off x="2066932" y="1589849"/>
            <a:ext cx="8058136" cy="367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1359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F0762-82D1-2B9F-1A6E-5088EE47D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370EE1-3509-8855-CEE8-B8D1CC63876F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456F1E-835C-2997-C408-AB97557FBCCE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circulares (simples y dobles)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9FD0314-A540-C595-BA99-351F11AF3EAE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43C796-7EAE-F9F9-B841-87D64AE0B448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0399CDC-4132-4078-95F7-C61CAA5C6289}"/>
              </a:ext>
            </a:extLst>
          </p:cNvPr>
          <p:cNvPicPr>
            <a:picLocks noGrp="1"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9" r="17850"/>
          <a:stretch/>
        </p:blipFill>
        <p:spPr bwMode="auto">
          <a:xfrm>
            <a:off x="652122" y="1291249"/>
            <a:ext cx="5365413" cy="3787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261C2DF3-DE93-4FCD-83EC-2B86A2E37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602" y="1048554"/>
            <a:ext cx="5936276" cy="4760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625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E7E1-424B-54A1-2B08-58662F52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90F9A5-9582-22B1-F99D-B77F29F94FCE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652E5D-C6A3-6EDE-3A27-42A92AC6824A}"/>
              </a:ext>
            </a:extLst>
          </p:cNvPr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circulares (simples y dobles)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D45A6D-653D-65F1-4A73-A2B7212355C0}"/>
              </a:ext>
            </a:extLst>
          </p:cNvPr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8EC907-3B7B-E9E0-D090-024D2FDF4977}"/>
              </a:ext>
            </a:extLst>
          </p:cNvPr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D440432-70AE-4283-BA30-6EF5B7AD88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383"/>
          <a:stretch/>
        </p:blipFill>
        <p:spPr>
          <a:xfrm>
            <a:off x="1323647" y="1321008"/>
            <a:ext cx="5084245" cy="4215984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A73C5CA0-314C-4A61-B47B-D0E3DEB7F0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4" r="23729"/>
          <a:stretch/>
        </p:blipFill>
        <p:spPr bwMode="auto">
          <a:xfrm>
            <a:off x="7225813" y="1177178"/>
            <a:ext cx="3642539" cy="450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62879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enlazadas vs. arrays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743200" cy="457200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50292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4434840" cy="457200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3246120" y="12344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enlazada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1234440"/>
            <a:ext cx="4114800" cy="457200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7680960" y="1234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691640"/>
            <a:ext cx="2743200" cy="960120"/>
          </a:xfrm>
          <a:prstGeom prst="rect">
            <a:avLst/>
          </a:prstGeom>
          <a:solidFill>
            <a:srgbClr val="F7F1F3"/>
          </a:solidFill>
          <a:ln w="6350">
            <a:solidFill>
              <a:srgbClr val="DDD0D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640080" y="16916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1691640"/>
            <a:ext cx="4434840" cy="960120"/>
          </a:xfrm>
          <a:prstGeom prst="rect">
            <a:avLst/>
          </a:prstGeom>
          <a:solidFill>
            <a:srgbClr val="F7F1F3"/>
          </a:solidFill>
          <a:ln w="6350">
            <a:solidFill>
              <a:srgbClr val="DDD0D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3383280" y="169164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Crece y decrece dinámicamente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1691640"/>
            <a:ext cx="4114800" cy="960120"/>
          </a:xfrm>
          <a:prstGeom prst="rect">
            <a:avLst/>
          </a:prstGeom>
          <a:solidFill>
            <a:srgbClr val="F7F1F3"/>
          </a:solidFill>
          <a:ln w="6350">
            <a:solidFill>
              <a:srgbClr val="DDD0D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7818120" y="16916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Fijo al declararse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65176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 txBox="1"/>
          <p:nvPr/>
        </p:nvSpPr>
        <p:spPr>
          <a:xfrm>
            <a:off x="640080" y="26517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Insertar / eliminar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46120" y="2651760"/>
            <a:ext cx="4434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 txBox="1"/>
          <p:nvPr/>
        </p:nvSpPr>
        <p:spPr>
          <a:xfrm>
            <a:off x="3383280" y="265176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 si ya se tiene el nodo (no hay que mover nada)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80960" y="265176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 txBox="1"/>
          <p:nvPr/>
        </p:nvSpPr>
        <p:spPr>
          <a:xfrm>
            <a:off x="7818120" y="26517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requerir desplazar todos los elementos siguientes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611880"/>
            <a:ext cx="2743200" cy="960120"/>
          </a:xfrm>
          <a:prstGeom prst="rect">
            <a:avLst/>
          </a:prstGeom>
          <a:solidFill>
            <a:srgbClr val="F7F1F3"/>
          </a:solidFill>
          <a:ln w="6350">
            <a:solidFill>
              <a:srgbClr val="DDD0D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 txBox="1"/>
          <p:nvPr/>
        </p:nvSpPr>
        <p:spPr>
          <a:xfrm>
            <a:off x="640080" y="36118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un elemento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46120" y="3611880"/>
            <a:ext cx="4434840" cy="960120"/>
          </a:xfrm>
          <a:prstGeom prst="rect">
            <a:avLst/>
          </a:prstGeom>
          <a:solidFill>
            <a:srgbClr val="F7F1F3"/>
          </a:solidFill>
          <a:ln w="6350">
            <a:solidFill>
              <a:srgbClr val="DDD0D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 txBox="1"/>
          <p:nvPr/>
        </p:nvSpPr>
        <p:spPr>
          <a:xfrm>
            <a:off x="3383280" y="361188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Secuencial: hay que recorrer desde el inicio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80960" y="3611880"/>
            <a:ext cx="4114800" cy="960120"/>
          </a:xfrm>
          <a:prstGeom prst="rect">
            <a:avLst/>
          </a:prstGeom>
          <a:solidFill>
            <a:srgbClr val="F7F1F3"/>
          </a:solidFill>
          <a:ln w="6350">
            <a:solidFill>
              <a:srgbClr val="DDD0D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 txBox="1"/>
          <p:nvPr/>
        </p:nvSpPr>
        <p:spPr>
          <a:xfrm>
            <a:off x="7818120" y="36118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Aleatorio: acceso directo por índice (rápido)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572000"/>
            <a:ext cx="2743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 txBox="1"/>
          <p:nvPr/>
        </p:nvSpPr>
        <p:spPr>
          <a:xfrm>
            <a:off x="640080" y="45720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46120" y="4572000"/>
            <a:ext cx="44348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 txBox="1"/>
          <p:nvPr/>
        </p:nvSpPr>
        <p:spPr>
          <a:xfrm>
            <a:off x="3383280" y="457200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memoria extra para las referencias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80960" y="457200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0D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 txBox="1"/>
          <p:nvPr/>
        </p:nvSpPr>
        <p:spPr>
          <a:xfrm>
            <a:off x="7818120" y="45720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necesita memoria adicional por elemento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2 (C#) — final de clase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502920" y="10515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691640"/>
            <a:ext cx="1118585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desea llevar el registro de los productos en stock de un pequeño comercio, usando una lista simplemente enlazada.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las clases NodoProducto (Codigo, Nombre, Precio, Siguiente) y ListaProductos, e implementar:</a:t>
            </a:r>
            <a:endParaRPr lang="en-US" sz="1550" dirty="0"/>
          </a:p>
          <a:p>
            <a:pPr marL="457200" lvl="1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AgregarAlFinal(codigo, nombre, precio)</a:t>
            </a:r>
            <a:endParaRPr lang="en-US" sz="1550" dirty="0"/>
          </a:p>
          <a:p>
            <a:pPr marL="457200" lvl="1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Buscar(codigo) — recorrido RECURSIVO que devuelva el producto o null</a:t>
            </a:r>
            <a:endParaRPr lang="en-US" sz="1550" dirty="0"/>
          </a:p>
          <a:p>
            <a:pPr marL="457200" lvl="1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Contar() — cantidad de nodos, en forma RECURSIVA</a:t>
            </a:r>
            <a:endParaRPr lang="en-US" sz="1550" dirty="0"/>
          </a:p>
          <a:p>
            <a:pPr marL="457200" lvl="1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MostrarListado() — recorre e imprime todos los productos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agregando al menos 4 productos y mostrando el listado completo.</a:t>
            </a:r>
            <a:endParaRPr lang="en-US" sz="15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ejercicio 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887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completo, comentado, con la explicación de ejecución, está en el archivo adjunto: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1185855" cy="640080"/>
          </a:xfrm>
          <a:prstGeom prst="roundRect">
            <a:avLst>
              <a:gd name="adj" fmla="val 8571"/>
            </a:avLst>
          </a:prstGeom>
          <a:solidFill>
            <a:srgbClr val="F3E9EC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731520" y="187452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Ejercicio2_ListaDeProductos.docx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43200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Incluye: NodoProducto y ListaProductos completas, con AgregarAlFinal, Buscar y Contar recursivos, MostrarListado, y el Main de prueba con 4 productos cargados.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2743200"/>
            <a:ext cx="5257800" cy="2926080"/>
          </a:xfrm>
          <a:prstGeom prst="rect">
            <a:avLst/>
          </a:prstGeom>
          <a:solidFill>
            <a:srgbClr val="F2F2F2"/>
          </a:solidFill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6565392" y="2852928"/>
            <a:ext cx="4928616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NodoProducto BuscarDesde(NodoProducto n,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string cod)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 == null) return null;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(n.Codigo == cod) return n;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BuscarDesde(n.Siguiente, cod);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Contar(): 4 productos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integrador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A9843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502920" y="10515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RECURSIVIDAD + LISTAS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691640"/>
            <a:ext cx="1118585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gimnasio quiere gestionar la lista de socios inscriptos a sus clases (Dni, Nombre, Apellido).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una aplicación que, integrando lo visto en la clase, permita:</a:t>
            </a:r>
            <a:endParaRPr lang="en-US" sz="1550" dirty="0"/>
          </a:p>
          <a:p>
            <a:pPr marL="457200" lvl="1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un nuevo socio al final de la lista, validando que el DNI no exista (recursivo).</a:t>
            </a:r>
            <a:endParaRPr lang="en-US" sz="1550" dirty="0"/>
          </a:p>
          <a:p>
            <a:pPr marL="457200" lvl="1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un socio por DNI (método recursivo).</a:t>
            </a:r>
            <a:endParaRPr lang="en-US" sz="1550" dirty="0"/>
          </a:p>
          <a:p>
            <a:pPr marL="457200" lvl="1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un socio por DNI (recursivo: lista vacía, único nodo, primero, intermedio/último).</a:t>
            </a:r>
            <a:endParaRPr lang="en-US" sz="1550" dirty="0"/>
          </a:p>
          <a:p>
            <a:pPr marL="457200" lvl="1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la cantidad total de socios (método recursivo) y el listado completo.</a:t>
            </a:r>
            <a:endParaRPr lang="en-US" sz="15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ejercicio integrador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887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completo, comentado, con la explicación de ejecución, está en el archivo adjunto: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1185855" cy="640080"/>
          </a:xfrm>
          <a:prstGeom prst="roundRect">
            <a:avLst>
              <a:gd name="adj" fmla="val 8571"/>
            </a:avLst>
          </a:prstGeom>
          <a:solidFill>
            <a:srgbClr val="F3E9EC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731520" y="187452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EjercicioIntegrador_GestionDeSocios.docx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43200"/>
            <a:ext cx="111858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 TODO lo visto hoy: Existe, Registrar, Buscar, Eliminar y Contar están resueltos con recursividad sobre una lista simplemente enlazada de socios.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además cómo validar datos duplicados antes de agregarlos a la lista.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02920" y="0"/>
            <a:ext cx="111858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ejemplo, TP4 y próxima clase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 · Recursividad y Listas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972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ejemplo por tema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5852160" cy="2926080"/>
          </a:xfrm>
          <a:prstGeom prst="roundRect">
            <a:avLst>
              <a:gd name="adj" fmla="val 1875"/>
            </a:avLst>
          </a:prstGeom>
          <a:solidFill>
            <a:srgbClr val="F7F1F3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777240" y="169164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01_Recursividad_Ejemplos.cs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02_ListaSimplementeEnlazada_Ejemplo.cs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03_ListaDoblementeEnlazada_Ejemplo.cs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04_ListaCircularSimple_Ejemplo.cs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05_ListaCircularDoble_Ejemplo.cs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5720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Carpeta "Código de Ejemplo" — un archivo autocontenido por cada tema, listo para pegar en un proyecto de consola.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0972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Práctico y próxima clase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1463040"/>
            <a:ext cx="5074920" cy="2926080"/>
          </a:xfrm>
          <a:prstGeom prst="roundRect">
            <a:avLst>
              <a:gd name="adj" fmla="val 1875"/>
            </a:avLst>
          </a:prstGeom>
          <a:solidFill>
            <a:srgbClr val="F3E9EC"/>
          </a:solidFill>
          <a:ln w="9525">
            <a:solidFill>
              <a:srgbClr val="B98BA0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6812280" y="169164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TP4 - Trabajando con listas: 7 ejercicios de recursividad y listas (simples, dobles y circulares) para resolver como tarea.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5 (10/09): Pilas.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6 (17/09): Colas.</a:t>
            </a:r>
            <a:endParaRPr lang="en-US" sz="130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7 (24/09): 1er Parcial (Unidades 1 y 2).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66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293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5C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4: Recursividad y Listas  ·  Programación y Estructuras de Datos  ·  Prof. Coedo, Maximiliano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3570</Words>
  <Application>Microsoft Office PowerPoint</Application>
  <PresentationFormat>Panorámica</PresentationFormat>
  <Paragraphs>511</Paragraphs>
  <Slides>42</Slides>
  <Notes>42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5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maximiliano coedo</cp:lastModifiedBy>
  <cp:revision>3</cp:revision>
  <dcterms:created xsi:type="dcterms:W3CDTF">2026-09-03T06:31:03Z</dcterms:created>
  <dcterms:modified xsi:type="dcterms:W3CDTF">2026-09-03T20:45:12Z</dcterms:modified>
</cp:coreProperties>
</file>